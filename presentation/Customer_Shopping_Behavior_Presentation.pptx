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Manas463/customer-shopping-behavior-analysis" TargetMode="External"/><Relationship Id="rId2" Type="http://schemas.openxmlformats.org/officeDocument/2006/relationships/hyperlink" Target="https://public.tableau.com/app/profile/manas.jaiswal5915/viz/customer_behaviour_dashboard/Dashboard1" TargetMode="External"/><Relationship Id="rId3" Type="http://schemas.openxmlformats.org/officeDocument/2006/relationships/image" Target="../media/image-10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91640"/>
            <a:ext cx="5943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Shopping Behavior Analysis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37033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data analytics project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58368" y="41605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→  PostgreSQL  →  Tableau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8368" y="59893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6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Manas Jaiswal  ·  August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29400" y="1389994"/>
            <a:ext cx="5074920" cy="4078013"/>
          </a:xfrm>
          <a:prstGeom prst="roundRect">
            <a:avLst>
              <a:gd name="adj" fmla="val 1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8AA3A2">
                <a:alpha val="50000"/>
              </a:srgbClr>
            </a:outerShdw>
          </a:effectLst>
        </p:spPr>
      </p:sp>
      <p:pic>
        <p:nvPicPr>
          <p:cNvPr id="7" name="Image 0" descr="/Users/manasjaiswal/Desktop/data_analytics_projects/01_customer_shopping_behavior/presentation/slide_images/slide01_title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481434"/>
            <a:ext cx="4892040" cy="38951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3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4754880" cy="4526280"/>
          </a:xfrm>
          <a:prstGeom prst="roundRect">
            <a:avLst>
              <a:gd name="adj" fmla="val 1616"/>
            </a:avLst>
          </a:prstGeom>
          <a:solidFill>
            <a:srgbClr val="123B3B"/>
          </a:solidFill>
          <a:ln/>
          <a:effectLst>
            <a:outerShdw sx="100000" sy="100000" kx="0" ky="0" algn="bl" rotWithShape="0" blurRad="76200" dist="25400" dir="5400000">
              <a:srgbClr val="C3D4D3">
                <a:alpha val="5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QUESTION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468880"/>
            <a:ext cx="4160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shopping data reveal trends to optimize marketing and product strategy?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760720" y="16916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D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760720" y="214884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5C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customer shopping behavior to lift sales, engagement, and long-term loyalty.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760720" y="32004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D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Focus Areas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760720" y="3703320"/>
            <a:ext cx="5852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3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</a:t>
            </a:r>
            <a:endParaRPr lang="en-US" sz="15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3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5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3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</a:t>
            </a:r>
            <a:endParaRPr lang="en-US" sz="15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3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preferences</a:t>
            </a:r>
            <a:endParaRPr lang="en-US" sz="15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23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3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3200" dirty="0"/>
          </a:p>
        </p:txBody>
      </p:sp>
      <p:pic>
        <p:nvPicPr>
          <p:cNvPr id="3" name="Image 0" descr="/Users/manasjaiswal/Desktop/data_analytics_projects/01_customer_shopping_behavior/presentation/slide_images/slide03_approach_jupy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12155"/>
            <a:ext cx="4892040" cy="4228051"/>
          </a:xfrm>
          <a:prstGeom prst="rect">
            <a:avLst/>
          </a:prstGeom>
          <a:effectLst>
            <a:outerShdw sx="100000" sy="100000" kx="0" ky="0" algn="bl" rotWithShape="0" blurRad="88900" dist="38100" dir="5400000">
              <a:srgbClr val="8AA3A2">
                <a:alpha val="50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806440" y="166420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E7D7D"/>
          </a:solidFill>
          <a:ln/>
        </p:spPr>
      </p:sp>
      <p:sp>
        <p:nvSpPr>
          <p:cNvPr id="5" name="Text 2"/>
          <p:cNvSpPr/>
          <p:nvPr/>
        </p:nvSpPr>
        <p:spPr>
          <a:xfrm>
            <a:off x="5806440" y="16642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583680" y="1627632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(pandas)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583680" y="219456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C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data, imputed missing review ratings by category median, and engineered age_group and purchase-frequency features.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806440" y="329184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E7D7D"/>
          </a:solidFill>
          <a:ln/>
        </p:spPr>
      </p:sp>
      <p:sp>
        <p:nvSpPr>
          <p:cNvPr id="9" name="Text 6"/>
          <p:cNvSpPr/>
          <p:nvPr/>
        </p:nvSpPr>
        <p:spPr>
          <a:xfrm>
            <a:off x="5806440" y="32918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0" y="3255264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583680" y="3822192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C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the data and answered 10 business questions using aggregates, subqueries, CASE, CTEs and window functions.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806440" y="491947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2E7D7D"/>
          </a:solidFill>
          <a:ln/>
        </p:spPr>
      </p:sp>
      <p:sp>
        <p:nvSpPr>
          <p:cNvPr id="13" name="Text 10"/>
          <p:cNvSpPr/>
          <p:nvPr/>
        </p:nvSpPr>
        <p:spPr>
          <a:xfrm>
            <a:off x="5806440" y="49194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583680" y="4882896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Tableau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583680" y="5449824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C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live-connected interactive dashboard with KPIs, category &amp; age breakdowns, and cross-filters.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3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KPIs 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567178" cy="1965960"/>
          </a:xfrm>
          <a:prstGeom prst="roundRect">
            <a:avLst>
              <a:gd name="adj" fmla="val 4186"/>
            </a:avLst>
          </a:prstGeom>
          <a:solidFill>
            <a:srgbClr val="EEF5F4"/>
          </a:solidFill>
          <a:ln w="12700">
            <a:solidFill>
              <a:srgbClr val="D6E3E2"/>
            </a:solidFill>
            <a:prstDash val="solid"/>
          </a:ln>
          <a:effectLst>
            <a:outerShdw sx="100000" sy="100000" kx="0" ky="0" algn="bl" rotWithShape="0" blurRad="76200" dist="25400" dir="5400000">
              <a:srgbClr val="C3D4D3">
                <a:alpha val="5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984248"/>
            <a:ext cx="256717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5E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3,900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898648"/>
            <a:ext cx="2567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390138" y="1600200"/>
            <a:ext cx="2567178" cy="1965960"/>
          </a:xfrm>
          <a:prstGeom prst="roundRect">
            <a:avLst>
              <a:gd name="adj" fmla="val 4186"/>
            </a:avLst>
          </a:prstGeom>
          <a:solidFill>
            <a:srgbClr val="EEF5F4"/>
          </a:solidFill>
          <a:ln w="12700">
            <a:solidFill>
              <a:srgbClr val="D6E3E2"/>
            </a:solidFill>
            <a:prstDash val="solid"/>
          </a:ln>
          <a:effectLst>
            <a:outerShdw sx="100000" sy="100000" kx="0" ky="0" algn="bl" rotWithShape="0" blurRad="76200" dist="25400" dir="5400000">
              <a:srgbClr val="C3D4D3">
                <a:alpha val="5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90138" y="1984248"/>
            <a:ext cx="256717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5E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$59.76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390138" y="2898648"/>
            <a:ext cx="2567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 Amount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31636" y="1600200"/>
            <a:ext cx="2567178" cy="1965960"/>
          </a:xfrm>
          <a:prstGeom prst="roundRect">
            <a:avLst>
              <a:gd name="adj" fmla="val 4186"/>
            </a:avLst>
          </a:prstGeom>
          <a:solidFill>
            <a:srgbClr val="EEF5F4"/>
          </a:solidFill>
          <a:ln w="12700">
            <a:solidFill>
              <a:srgbClr val="D6E3E2"/>
            </a:solidFill>
            <a:prstDash val="solid"/>
          </a:ln>
          <a:effectLst>
            <a:outerShdw sx="100000" sy="100000" kx="0" ky="0" algn="bl" rotWithShape="0" blurRad="76200" dist="25400" dir="5400000">
              <a:srgbClr val="C3D4D3">
                <a:alpha val="5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31636" y="1984248"/>
            <a:ext cx="256717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5E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3.75 / 5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231636" y="2898648"/>
            <a:ext cx="2567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Rating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073134" y="1600200"/>
            <a:ext cx="2567178" cy="1965960"/>
          </a:xfrm>
          <a:prstGeom prst="roundRect">
            <a:avLst>
              <a:gd name="adj" fmla="val 4186"/>
            </a:avLst>
          </a:prstGeom>
          <a:solidFill>
            <a:srgbClr val="EEF5F4"/>
          </a:solidFill>
          <a:ln w="12700">
            <a:solidFill>
              <a:srgbClr val="D6E3E2"/>
            </a:solidFill>
            <a:prstDash val="solid"/>
          </a:ln>
          <a:effectLst>
            <a:outerShdw sx="100000" sy="100000" kx="0" ky="0" algn="bl" rotWithShape="0" blurRad="76200" dist="25400" dir="5400000">
              <a:srgbClr val="C3D4D3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073134" y="1984248"/>
            <a:ext cx="256717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5E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073134" y="2898648"/>
            <a:ext cx="2567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Subscribed (1,053)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shown on the live Tableau dashboard</a:t>
            </a:r>
            <a:endParaRPr lang="en-US" sz="1200" dirty="0"/>
          </a:p>
        </p:txBody>
      </p:sp>
      <p:pic>
        <p:nvPicPr>
          <p:cNvPr id="16" name="Image 0" descr="/Users/manasjaiswal/Desktop/data_analytics_projects/01_customer_shopping_behavior/presentation/slide_images/slide04_kpi_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356272"/>
            <a:ext cx="7680960" cy="1437296"/>
          </a:xfrm>
          <a:prstGeom prst="rect">
            <a:avLst/>
          </a:prstGeom>
          <a:effectLst>
            <a:outerShdw sx="100000" sy="100000" kx="0" ky="0" algn="bl" rotWithShape="0" blurRad="88900" dist="38100" dir="5400000">
              <a:srgbClr val="8AA3A2">
                <a:alpha val="50000"/>
              </a:srgbClr>
            </a:outerShdw>
          </a:effectLst>
        </p:spPr>
      </p:pic>
      <p:sp>
        <p:nvSpPr>
          <p:cNvPr id="17" name="Shape 14"/>
          <p:cNvSpPr/>
          <p:nvPr/>
        </p:nvSpPr>
        <p:spPr>
          <a:xfrm>
            <a:off x="8503920" y="4297680"/>
            <a:ext cx="3108960" cy="1554480"/>
          </a:xfrm>
          <a:prstGeom prst="roundRect">
            <a:avLst>
              <a:gd name="adj" fmla="val 5294"/>
            </a:avLst>
          </a:prstGeom>
          <a:solidFill>
            <a:srgbClr val="123B3B"/>
          </a:solidFill>
          <a:ln/>
          <a:effectLst>
            <a:outerShdw sx="100000" sy="100000" kx="0" ky="0" algn="bl" rotWithShape="0" blurRad="76200" dist="25400" dir="5400000">
              <a:srgbClr val="C3D4D3">
                <a:alpha val="5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686800" y="4526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9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subscribed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686800" y="51206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E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2,847 of 3,900 customers — the biggest growth opportunity.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3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Revenue Comes From</a:t>
            </a:r>
            <a:endParaRPr lang="en-US" sz="3200" dirty="0"/>
          </a:p>
        </p:txBody>
      </p:sp>
      <p:pic>
        <p:nvPicPr>
          <p:cNvPr id="3" name="Image 0" descr="/Users/manasjaiswal/Desktop/data_analytics_projects/01_customer_shopping_behavior/presentation/slide_images/slide05_revenue_by_categ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4196"/>
            <a:ext cx="4297680" cy="4198248"/>
          </a:xfrm>
          <a:prstGeom prst="rect">
            <a:avLst/>
          </a:prstGeom>
          <a:effectLst>
            <a:outerShdw sx="100000" sy="100000" kx="0" ky="0" algn="bl" rotWithShape="0" blurRad="88900" dist="38100" dir="5400000">
              <a:srgbClr val="8AA3A2">
                <a:alpha val="50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5212080" y="1600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Category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212080" y="205740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— $104,264  (1,737 orders)</a:t>
            </a:r>
            <a:endParaRPr lang="en-US" sz="14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— $74,200  (1,240 orders)</a:t>
            </a:r>
            <a:endParaRPr lang="en-US" sz="14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Footwear — $36,093  (599 orders)</a:t>
            </a:r>
            <a:endParaRPr lang="en-US" sz="14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23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Outerwear — $18,524  (324 orders)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212080" y="3794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Age Group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212080" y="4206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3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 $62,143  ·  Middle-aged $59,197  ·  Adult $55,978  ·  Senior $55,763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212080" y="4983480"/>
            <a:ext cx="6400800" cy="914400"/>
          </a:xfrm>
          <a:prstGeom prst="roundRect">
            <a:avLst>
              <a:gd name="adj" fmla="val 8000"/>
            </a:avLst>
          </a:prstGeom>
          <a:solidFill>
            <a:srgbClr val="EEF5F4"/>
          </a:solidFill>
          <a:ln/>
        </p:spPr>
      </p:sp>
      <p:sp>
        <p:nvSpPr>
          <p:cNvPr id="9" name="Text 6"/>
          <p:cNvSpPr/>
          <p:nvPr/>
        </p:nvSpPr>
        <p:spPr>
          <a:xfrm>
            <a:off x="5394960" y="507492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C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is the core category (~45% of revenue and orders); revenue is spread evenly across all age groups.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3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Demographics Story</a:t>
            </a:r>
            <a:endParaRPr lang="en-US" sz="3200" dirty="0"/>
          </a:p>
        </p:txBody>
      </p:sp>
      <p:pic>
        <p:nvPicPr>
          <p:cNvPr id="3" name="Image 0" descr="/Users/manasjaiswal/Desktop/data_analytics_projects/01_customer_shopping_behavior/presentation/slide_images/slide06_gender_sq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75472"/>
            <a:ext cx="5669280" cy="2249856"/>
          </a:xfrm>
          <a:prstGeom prst="rect">
            <a:avLst/>
          </a:prstGeom>
          <a:effectLst>
            <a:outerShdw sx="100000" sy="100000" kx="0" ky="0" algn="bl" rotWithShape="0" blurRad="88900" dist="38100" dir="5400000">
              <a:srgbClr val="8AA3A2">
                <a:alpha val="50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548640" y="47091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result — revenue by gender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537960" y="1737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Gender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537960" y="2148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$157,890 (68%)  vs  Female $75,191 (32%)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537960" y="28803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Per-Customer Spend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537960" y="32918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3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≈ $59.5   ·   Female ≈ $60.2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537960" y="416052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EEF5F4"/>
          </a:solidFill>
          <a:ln/>
        </p:spPr>
      </p:sp>
      <p:sp>
        <p:nvSpPr>
          <p:cNvPr id="10" name="Text 7"/>
          <p:cNvSpPr/>
          <p:nvPr/>
        </p:nvSpPr>
        <p:spPr>
          <a:xfrm>
            <a:off x="6766560" y="429768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5C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male lead is driven by a larger customer count — women actually spend marginally more per head. Acquiring more female customers is an untapped lever.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3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Subscription &amp; Loyalty — Biggest Opportunity</a:t>
            </a:r>
            <a:endParaRPr lang="en-US" sz="3200" dirty="0"/>
          </a:p>
        </p:txBody>
      </p:sp>
      <p:pic>
        <p:nvPicPr>
          <p:cNvPr id="3" name="Image 0" descr="/Users/manasjaiswal/Desktop/data_analytics_projects/01_customer_shopping_behavior/presentation/slide_images/slide07_segmentation_sq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42341"/>
            <a:ext cx="5577840" cy="2773318"/>
          </a:xfrm>
          <a:prstGeom prst="rect">
            <a:avLst/>
          </a:prstGeom>
          <a:effectLst>
            <a:outerShdw sx="100000" sy="100000" kx="0" ky="0" algn="bl" rotWithShape="0" blurRad="88900" dist="38100" dir="5400000">
              <a:srgbClr val="8AA3A2">
                <a:alpha val="50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548640" y="51206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C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result — customer segmentation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46520" y="17373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Figures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46520" y="219456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vs non-subscriber spend: $59.49 vs $59.87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Segments: Loyal 3,116  ·  Returning 701  ·  New 83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 (5+): 958 subscribe vs 2,518 don't (~28%)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46520" y="4343400"/>
            <a:ext cx="5212080" cy="1554480"/>
          </a:xfrm>
          <a:prstGeom prst="roundRect">
            <a:avLst>
              <a:gd name="adj" fmla="val 4706"/>
            </a:avLst>
          </a:prstGeom>
          <a:solidFill>
            <a:srgbClr val="123B3B"/>
          </a:solidFill>
          <a:ln/>
          <a:effectLst>
            <a:outerShdw sx="100000" sy="100000" kx="0" ky="0" algn="bl" rotWithShape="0" blurRad="76200" dist="25400" dir="5400000">
              <a:srgbClr val="C3D4D3">
                <a:alpha val="5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675120" y="4480560"/>
            <a:ext cx="4754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C89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customers are loyal repeat buyers, yet only ~27% subscribe — and subscription doesn't lift spend. Converting loyal non-subscribers is the win.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3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Products, Discounts &amp; Shipping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580894" cy="3383280"/>
          </a:xfrm>
          <a:prstGeom prst="roundRect">
            <a:avLst>
              <a:gd name="adj" fmla="val 3189"/>
            </a:avLst>
          </a:prstGeom>
          <a:solidFill>
            <a:srgbClr val="EEF5F4"/>
          </a:solidFill>
          <a:ln w="12700">
            <a:solidFill>
              <a:srgbClr val="D6E3E2"/>
            </a:solidFill>
            <a:prstDash val="solid"/>
          </a:ln>
          <a:effectLst>
            <a:outerShdw sx="100000" sy="100000" kx="0" ky="0" algn="bl" rotWithShape="0" blurRad="76200" dist="25400" dir="5400000">
              <a:srgbClr val="C3D4D3">
                <a:alpha val="5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49808" y="1828800"/>
            <a:ext cx="217855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E7D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Top-Rated Products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2651760"/>
            <a:ext cx="217855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 3.86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 3.84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 3.82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3.80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Skirt 3.78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85566" y="1600200"/>
            <a:ext cx="2580894" cy="3383280"/>
          </a:xfrm>
          <a:prstGeom prst="roundRect">
            <a:avLst>
              <a:gd name="adj" fmla="val 3189"/>
            </a:avLst>
          </a:prstGeom>
          <a:solidFill>
            <a:srgbClr val="EEF5F4"/>
          </a:solidFill>
          <a:ln w="12700">
            <a:solidFill>
              <a:srgbClr val="D6E3E2"/>
            </a:solidFill>
            <a:prstDash val="solid"/>
          </a:ln>
          <a:effectLst>
            <a:outerShdw sx="100000" sy="100000" kx="0" ky="0" algn="bl" rotWithShape="0" blurRad="76200" dist="25400" dir="5400000">
              <a:srgbClr val="C3D4D3">
                <a:alpha val="5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86734" y="1828800"/>
            <a:ext cx="217855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E7D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Best-Sellers by Category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586734" y="2651760"/>
            <a:ext cx="217855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Jewelry (Accessories)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Pants &amp; Blouse (Clothing)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Sandals (Footwear)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Jacket (Outerwear)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22492" y="1600200"/>
            <a:ext cx="2580894" cy="3383280"/>
          </a:xfrm>
          <a:prstGeom prst="roundRect">
            <a:avLst>
              <a:gd name="adj" fmla="val 3189"/>
            </a:avLst>
          </a:prstGeom>
          <a:solidFill>
            <a:srgbClr val="EEF5F4"/>
          </a:solidFill>
          <a:ln w="12700">
            <a:solidFill>
              <a:srgbClr val="D6E3E2"/>
            </a:solidFill>
            <a:prstDash val="solid"/>
          </a:ln>
          <a:effectLst>
            <a:outerShdw sx="100000" sy="100000" kx="0" ky="0" algn="bl" rotWithShape="0" blurRad="76200" dist="25400" dir="5400000">
              <a:srgbClr val="C3D4D3">
                <a:alpha val="5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23660" y="1828800"/>
            <a:ext cx="217855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E7D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Discount-Reliant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23660" y="2651760"/>
            <a:ext cx="217855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50%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 49%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Sneakers 49%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Sweater 48%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3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Pants 47%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059418" y="1600200"/>
            <a:ext cx="2580894" cy="3383280"/>
          </a:xfrm>
          <a:prstGeom prst="roundRect">
            <a:avLst>
              <a:gd name="adj" fmla="val 3189"/>
            </a:avLst>
          </a:prstGeom>
          <a:solidFill>
            <a:srgbClr val="123B3B"/>
          </a:solidFill>
          <a:ln w="12700">
            <a:solidFill>
              <a:srgbClr val="D6E3E2"/>
            </a:solidFill>
            <a:prstDash val="solid"/>
          </a:ln>
          <a:effectLst>
            <a:outerShdw sx="100000" sy="100000" kx="0" ky="0" algn="bl" rotWithShape="0" blurRad="76200" dist="25400" dir="5400000">
              <a:srgbClr val="C3D4D3">
                <a:alpha val="5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260586" y="1828800"/>
            <a:ext cx="217855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C89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260586" y="2651760"/>
            <a:ext cx="217855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$60.48 vs Standard $58.46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839 customers spent above average while using a discount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7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 </a:t>
            </a:r>
            <a:pPr indent="0" marL="0">
              <a:buNone/>
            </a:pPr>
            <a:r>
              <a:rPr lang="en-US" sz="1350" dirty="0">
                <a:solidFill>
                  <a:srgbClr val="5C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products only sell with heavy discounts (margin review advised); faster shipping correlates with modestly higher spend.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3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580894" cy="1965960"/>
          </a:xfrm>
          <a:prstGeom prst="roundRect">
            <a:avLst>
              <a:gd name="adj" fmla="val 4186"/>
            </a:avLst>
          </a:prstGeom>
          <a:solidFill>
            <a:srgbClr val="EEF5F4"/>
          </a:solidFill>
          <a:ln w="12700">
            <a:solidFill>
              <a:srgbClr val="D6E3E2"/>
            </a:solidFill>
            <a:prstDash val="solid"/>
          </a:ln>
          <a:effectLst>
            <a:outerShdw sx="100000" sy="100000" kx="0" ky="0" algn="bl" rotWithShape="0" blurRad="76200" dist="25400" dir="5400000">
              <a:srgbClr val="C3D4D3">
                <a:alpha val="5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49808" y="18013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8952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783080"/>
            <a:ext cx="162077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1F5E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subscriptions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423160"/>
            <a:ext cx="21785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C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aren't subscribed and it doesn't lift spend — redesign the offer with real value.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5566" y="1600200"/>
            <a:ext cx="2580894" cy="1965960"/>
          </a:xfrm>
          <a:prstGeom prst="roundRect">
            <a:avLst>
              <a:gd name="adj" fmla="val 4186"/>
            </a:avLst>
          </a:prstGeom>
          <a:solidFill>
            <a:srgbClr val="EEF5F4"/>
          </a:solidFill>
          <a:ln w="12700">
            <a:solidFill>
              <a:srgbClr val="D6E3E2"/>
            </a:solidFill>
            <a:prstDash val="solid"/>
          </a:ln>
          <a:effectLst>
            <a:outerShdw sx="100000" sy="100000" kx="0" ky="0" algn="bl" rotWithShape="0" blurRad="76200" dist="25400" dir="5400000">
              <a:srgbClr val="C3D4D3">
                <a:alpha val="5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86734" y="18013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8952E"/>
          </a:solidFill>
          <a:ln/>
        </p:spPr>
      </p:sp>
      <p:sp>
        <p:nvSpPr>
          <p:cNvPr id="10" name="Text 8"/>
          <p:cNvSpPr/>
          <p:nvPr/>
        </p:nvSpPr>
        <p:spPr>
          <a:xfrm>
            <a:off x="3586734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62806" y="1783080"/>
            <a:ext cx="162077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1F5E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loyal non-subscribers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86734" y="2423160"/>
            <a:ext cx="21785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C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repeat buyers (80% of base) who don't subscribe.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22492" y="1600200"/>
            <a:ext cx="2580894" cy="1965960"/>
          </a:xfrm>
          <a:prstGeom prst="roundRect">
            <a:avLst>
              <a:gd name="adj" fmla="val 4186"/>
            </a:avLst>
          </a:prstGeom>
          <a:solidFill>
            <a:srgbClr val="EEF5F4"/>
          </a:solidFill>
          <a:ln w="12700">
            <a:solidFill>
              <a:srgbClr val="D6E3E2"/>
            </a:solidFill>
            <a:prstDash val="solid"/>
          </a:ln>
          <a:effectLst>
            <a:outerShdw sx="100000" sy="100000" kx="0" ky="0" algn="bl" rotWithShape="0" blurRad="76200" dist="25400" dir="5400000">
              <a:srgbClr val="C3D4D3">
                <a:alpha val="5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23660" y="18013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8952E"/>
          </a:solidFill>
          <a:ln/>
        </p:spPr>
      </p:sp>
      <p:sp>
        <p:nvSpPr>
          <p:cNvPr id="15" name="Text 13"/>
          <p:cNvSpPr/>
          <p:nvPr/>
        </p:nvSpPr>
        <p:spPr>
          <a:xfrm>
            <a:off x="6423660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99732" y="1783080"/>
            <a:ext cx="162077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1F5E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Acquire more female customers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23660" y="2423160"/>
            <a:ext cx="21785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C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are 32% of base but spend slightly more per order.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59418" y="1600200"/>
            <a:ext cx="2580894" cy="1965960"/>
          </a:xfrm>
          <a:prstGeom prst="roundRect">
            <a:avLst>
              <a:gd name="adj" fmla="val 4186"/>
            </a:avLst>
          </a:prstGeom>
          <a:solidFill>
            <a:srgbClr val="EEF5F4"/>
          </a:solidFill>
          <a:ln w="12700">
            <a:solidFill>
              <a:srgbClr val="D6E3E2"/>
            </a:solidFill>
            <a:prstDash val="solid"/>
          </a:ln>
          <a:effectLst>
            <a:outerShdw sx="100000" sy="100000" kx="0" ky="0" algn="bl" rotWithShape="0" blurRad="76200" dist="25400" dir="5400000">
              <a:srgbClr val="C3D4D3">
                <a:alpha val="5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260586" y="18013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8952E"/>
          </a:solidFill>
          <a:ln/>
        </p:spPr>
      </p:sp>
      <p:sp>
        <p:nvSpPr>
          <p:cNvPr id="20" name="Text 18"/>
          <p:cNvSpPr/>
          <p:nvPr/>
        </p:nvSpPr>
        <p:spPr>
          <a:xfrm>
            <a:off x="9260586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836658" y="1783080"/>
            <a:ext cx="162077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1F5E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discount-reliant items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260586" y="2423160"/>
            <a:ext cx="21785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C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margins on Hat, Coat, Sneakers (~49–50% discounted).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967103" y="3886200"/>
            <a:ext cx="2580894" cy="1965960"/>
          </a:xfrm>
          <a:prstGeom prst="roundRect">
            <a:avLst>
              <a:gd name="adj" fmla="val 4186"/>
            </a:avLst>
          </a:prstGeom>
          <a:solidFill>
            <a:srgbClr val="EEF5F4"/>
          </a:solidFill>
          <a:ln w="12700">
            <a:solidFill>
              <a:srgbClr val="D6E3E2"/>
            </a:solidFill>
            <a:prstDash val="solid"/>
          </a:ln>
          <a:effectLst>
            <a:outerShdw sx="100000" sy="100000" kx="0" ky="0" algn="bl" rotWithShape="0" blurRad="76200" dist="25400" dir="5400000">
              <a:srgbClr val="C3D4D3">
                <a:alpha val="5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168271" y="40873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8952E"/>
          </a:solidFill>
          <a:ln/>
        </p:spPr>
      </p:sp>
      <p:sp>
        <p:nvSpPr>
          <p:cNvPr id="25" name="Text 23"/>
          <p:cNvSpPr/>
          <p:nvPr/>
        </p:nvSpPr>
        <p:spPr>
          <a:xfrm>
            <a:off x="2168271" y="4087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744343" y="4069080"/>
            <a:ext cx="162077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1F5E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 Clothing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168271" y="4709160"/>
            <a:ext cx="21785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C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category (~45%); investigate Outerwear's low share.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04029" y="3886200"/>
            <a:ext cx="2580894" cy="1965960"/>
          </a:xfrm>
          <a:prstGeom prst="roundRect">
            <a:avLst>
              <a:gd name="adj" fmla="val 4186"/>
            </a:avLst>
          </a:prstGeom>
          <a:solidFill>
            <a:srgbClr val="EEF5F4"/>
          </a:solidFill>
          <a:ln w="12700">
            <a:solidFill>
              <a:srgbClr val="D6E3E2"/>
            </a:solidFill>
            <a:prstDash val="solid"/>
          </a:ln>
          <a:effectLst>
            <a:outerShdw sx="100000" sy="100000" kx="0" ky="0" algn="bl" rotWithShape="0" blurRad="76200" dist="25400" dir="5400000">
              <a:srgbClr val="C3D4D3">
                <a:alpha val="5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05197" y="40873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8952E"/>
          </a:solidFill>
          <a:ln/>
        </p:spPr>
      </p:sp>
      <p:sp>
        <p:nvSpPr>
          <p:cNvPr id="30" name="Text 28"/>
          <p:cNvSpPr/>
          <p:nvPr/>
        </p:nvSpPr>
        <p:spPr>
          <a:xfrm>
            <a:off x="5005197" y="4087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581269" y="4069080"/>
            <a:ext cx="162077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1F5E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top-rated products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005197" y="4709160"/>
            <a:ext cx="21785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C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best-rated &amp; best-sellers; consider premium pricing.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640955" y="3886200"/>
            <a:ext cx="2580894" cy="1965960"/>
          </a:xfrm>
          <a:prstGeom prst="roundRect">
            <a:avLst>
              <a:gd name="adj" fmla="val 4186"/>
            </a:avLst>
          </a:prstGeom>
          <a:solidFill>
            <a:srgbClr val="EEF5F4"/>
          </a:solidFill>
          <a:ln w="12700">
            <a:solidFill>
              <a:srgbClr val="D6E3E2"/>
            </a:solidFill>
            <a:prstDash val="solid"/>
          </a:ln>
          <a:effectLst>
            <a:outerShdw sx="100000" sy="100000" kx="0" ky="0" algn="bl" rotWithShape="0" blurRad="76200" dist="25400" dir="5400000">
              <a:srgbClr val="C3D4D3">
                <a:alpha val="5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842123" y="408736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8952E"/>
          </a:solidFill>
          <a:ln/>
        </p:spPr>
      </p:sp>
      <p:sp>
        <p:nvSpPr>
          <p:cNvPr id="35" name="Text 33"/>
          <p:cNvSpPr/>
          <p:nvPr/>
        </p:nvSpPr>
        <p:spPr>
          <a:xfrm>
            <a:off x="7842123" y="4087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18195" y="4069080"/>
            <a:ext cx="162077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350" b="1" dirty="0">
                <a:solidFill>
                  <a:srgbClr val="1F5E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 in faster delivery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842123" y="4709160"/>
            <a:ext cx="217855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5C6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buyers spend modestly more.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3B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Links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9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4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pandas, Jupyter Notebook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4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pgAdmin, SQLAlchemy + psycopg2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4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— live database connection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95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4663440"/>
            <a:ext cx="6583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E4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repository:  </a:t>
            </a:r>
            <a:pPr indent="0" marL="0">
              <a:lnSpc>
                <a:spcPct val="150000"/>
              </a:lnSpc>
              <a:buNone/>
            </a:pPr>
            <a:r>
              <a:rPr lang="en-US" sz="1200" u="sng" dirty="0">
                <a:solidFill>
                  <a:srgbClr val="8FD3D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github.com/Manas463/customer-shopping-behavior-analysis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E4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dashboard:  </a:t>
            </a:r>
            <a:pPr indent="0" marL="0">
              <a:lnSpc>
                <a:spcPct val="150000"/>
              </a:lnSpc>
              <a:buNone/>
            </a:pPr>
            <a:r>
              <a:rPr lang="en-US" sz="1200" u="sng" dirty="0">
                <a:solidFill>
                  <a:srgbClr val="8FD3D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the interactive dashboard on Tableau Public  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33488" y="2047065"/>
            <a:ext cx="4352544" cy="3495390"/>
          </a:xfrm>
          <a:prstGeom prst="roundRect">
            <a:avLst>
              <a:gd name="adj" fmla="val 1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8AA3A2">
                <a:alpha val="50000"/>
              </a:srgbClr>
            </a:outerShdw>
          </a:effectLst>
        </p:spPr>
      </p:sp>
      <p:pic>
        <p:nvPicPr>
          <p:cNvPr id="8" name="Image 0" descr="/Users/manasjaiswal/Desktop/data_analytics_projects/01_customer_shopping_behavior/presentation/slide_images/slide01_title_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2120217"/>
            <a:ext cx="4206240" cy="33490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2026-08-14T09:52:32Z</dcterms:created>
  <dcterms:modified xsi:type="dcterms:W3CDTF">2026-08-14T09:52:32Z</dcterms:modified>
</cp:coreProperties>
</file>